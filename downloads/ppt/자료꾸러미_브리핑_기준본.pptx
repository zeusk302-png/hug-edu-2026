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1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27084"/>
                </a:solidFill>
                <a:latin typeface="맑은 고딕"/>
              </a:rPr>
              <a:t>교육용 가상 자료 · 가상 독서모임 예시 · 실제 기관 자료가 아닙니다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103120"/>
            <a:ext cx="10515600" cy="146304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101D34"/>
                </a:solidFill>
                <a:latin typeface="맑은 고딕"/>
              </a:rPr>
              <a:t>기록 절차 개선 지표 브리핑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749039"/>
            <a:ext cx="10515600" cy="1005840"/>
          </a:xfrm>
        </p:spPr>
        <p:txBody>
          <a:bodyPr wrap="square"/>
          <a:lstStyle/>
          <a:p>
            <a:pPr algn="l"/>
            <a:r>
              <a:rPr sz="1800" b="0">
                <a:solidFill>
                  <a:srgbClr val="627084"/>
                </a:solidFill>
                <a:latin typeface="맑은 고딕"/>
              </a:rPr>
              <a:t>어느 지표부터 볼 것인가 · 운영 책임자 보고용 · 교육용 가상 데이터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40080"/>
            <a:ext cx="10515600" cy="914400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101D34"/>
                </a:solidFill>
                <a:latin typeface="맑은 고딕"/>
              </a:rPr>
              <a:t>핵심 메시지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28800"/>
            <a:ext cx="10515600" cy="39319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3148"/>
                </a:solidFill>
                <a:latin typeface="맑은 고딕"/>
              </a:rPr>
              <a:t>여섯 지표를 절감률(개선 전 대비 %)로만 비교했습니다. 절감량은 단위가 달라 합산·비교하지 않았습니다. (집계 시트 A3)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3148"/>
                </a:solidFill>
                <a:latin typeface="맑은 고딕"/>
              </a:rPr>
              <a:t>가장 큰 개선은 회의록 공유 누락 87.5%, 문서 재작성 요청 83.3%, 기록 반려 75.0% 순입니다. (집계!D7·D8·D11)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3148"/>
                </a:solidFill>
                <a:latin typeface="맑은 고딕"/>
              </a:rPr>
              <a:t>작성 담당 투입 시간은 58.3%로 다섯 번째이며, 양식 준수율 53.2%는 상승 지표라 증가분 기준입니다. (집계!D9·D10, 지표!J10)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40080"/>
            <a:ext cx="10515600" cy="914400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101D34"/>
                </a:solidFill>
                <a:latin typeface="맑은 고딕"/>
              </a:rPr>
              <a:t>요청 사항과 확인 필요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8288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301752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3148"/>
                          </a:solidFill>
                          <a:latin typeface="맑은 고딕"/>
                        </a:rPr>
                        <a:t>결정 요청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3148"/>
                          </a:solidFill>
                          <a:latin typeface="맑은 고딕"/>
                        </a:rPr>
                        <a:t>개선 폭이 작은 지표 4·5를 다음 점검 대상으로 둘지 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3148"/>
                          </a:solidFill>
                          <a:latin typeface="맑은 고딕"/>
                        </a:rPr>
                        <a:t>집계!E9·E10 (순위 5·6)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3148"/>
                          </a:solidFill>
                          <a:latin typeface="맑은 고딕"/>
                        </a:rPr>
                        <a:t>입력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3148"/>
                          </a:solidFill>
                          <a:latin typeface="맑은 고딕"/>
                        </a:rPr>
                        <a:t>기대효과지표_실습본 원본(E9=7.5). 작업본(E9=6.0)이면 지표 4는 66.7%·4위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3148"/>
                          </a:solidFill>
                          <a:latin typeface="맑은 고딕"/>
                        </a:rPr>
                        <a:t>지표!E9 · 집계!D9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3148"/>
                          </a:solidFill>
                          <a:latin typeface="맑은 고딕"/>
                        </a:rPr>
                        <a:t>확인 필요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3148"/>
                          </a:solidFill>
                          <a:latin typeface="맑은 고딕"/>
                        </a:rPr>
                        <a:t>지표 산출 근거는 자료모임 자체 집계(가상). 외부 검증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3148"/>
                          </a:solidFill>
                          <a:latin typeface="맑은 고딕"/>
                        </a:rPr>
                        <a:t>지표!H6:I11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01D34"/>
      </a:accent1>
      <a:accent2>
        <a:srgbClr val="2E8FA6"/>
      </a:accent2>
      <a:accent3>
        <a:srgbClr val="C16B1E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